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1A1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C6AF7"/>
                </a:solidFill>
                <a:latin typeface="Syne"/>
              </a:rPr>
              <a:t>Agent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0F0F5"/>
                </a:solidFill>
                <a:latin typeface="Syne"/>
              </a:rPr>
              <a:t>Gestiona tus agentes de IA</a:t>
            </a:r>
          </a:p>
          <a:p>
            <a:pPr algn="ctr"/>
            <a:r>
              <a:rPr sz="4600" b="1">
                <a:solidFill>
                  <a:srgbClr val="7C6AF7"/>
                </a:solidFill>
                <a:latin typeface="Syne"/>
              </a:rPr>
              <a:t>como un profesional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9D9DB5"/>
                </a:solidFill>
                <a:latin typeface="Syne"/>
              </a:rPr>
              <a:t>La plataforma para gestionar tus agentes de IA y proyectos de desarrollo en un solo lugar.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A5A75"/>
                </a:solidFill>
                <a:latin typeface="Syne"/>
              </a:rPr>
              <a:t>Construida con IA · Para la IA · Con manos humanas al volante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5029200"/>
            <a:ext cx="1828800" cy="384048"/>
          </a:xfrm>
          <a:prstGeom prst="rect">
            <a:avLst/>
          </a:prstGeom>
          <a:solidFill>
            <a:srgbClr val="1E1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502920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C6AF7"/>
                </a:solidFill>
                <a:latin typeface="Syne"/>
              </a:rPr>
              <a:t>✦  v1.8.0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C6AF7"/>
                </a:solidFill>
                <a:latin typeface="Syne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0F0F5"/>
                </a:solidFill>
                <a:latin typeface="Syne"/>
              </a:rPr>
              <a:t>Desarrollar con IA hoy es caótico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965960"/>
            <a:ext cx="3291840" cy="173736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6B6B"/>
                </a:solidFill>
                <a:latin typeface="Syne"/>
              </a:rPr>
              <a:t>Los agentes se pierden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9D9DB5"/>
                </a:solidFill>
                <a:latin typeface="Syne"/>
              </a:rPr>
              <a:t>Se crean manualmente, no se reutilizan y cada proyecto acaba desincronizado.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965960"/>
            <a:ext cx="3291840" cy="173736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1031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6B6B"/>
                </a:solidFill>
                <a:latin typeface="Syne"/>
              </a:rPr>
              <a:t>Sin organización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9D9DB5"/>
                </a:solidFill>
                <a:latin typeface="Syne"/>
              </a:rPr>
              <a:t>No hay forma fácil de agrupar agentes por proyecto, tecnología o equipo.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160520"/>
            <a:ext cx="3291840" cy="173736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6B6B"/>
                </a:solidFill>
                <a:latin typeface="Syne"/>
              </a:rPr>
              <a:t>Prompts sin base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9D9DB5"/>
                </a:solidFill>
                <a:latin typeface="Syne"/>
              </a:rPr>
              <a:t>Se escriben a ojo, sin optimización ni estructura profesional de partida.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4160520"/>
            <a:ext cx="3291840" cy="173736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2976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6B6B"/>
                </a:solidFill>
                <a:latin typeface="Syne"/>
              </a:rPr>
              <a:t>Conocimiento bloqueado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9D9DB5"/>
                </a:solidFill>
                <a:latin typeface="Syne"/>
              </a:rPr>
              <a:t>El know-how de usar bien la IA queda en la cabeza de cada persona. No se comparte.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C6AF7"/>
                </a:solidFill>
                <a:latin typeface="Syne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5"/>
                </a:solidFill>
                <a:latin typeface="Syne"/>
              </a:rPr>
              <a:t>Agent Hub centraliza y potencia tu ecosistema de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36576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59152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C6AF7"/>
                </a:solidFill>
                <a:latin typeface="Syne"/>
              </a:rPr>
              <a:t>1  Organiza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9D9DB5"/>
                </a:solidFill>
                <a:latin typeface="Syne"/>
              </a:rPr>
              <a:t>Jerarquía clara: global → categoría → tecnología → proyecto.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2194560"/>
            <a:ext cx="36576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359152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ECF8E"/>
                </a:solidFill>
                <a:latin typeface="Syne"/>
              </a:rPr>
              <a:t>2  Sincroniza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9D9DB5"/>
                </a:solidFill>
                <a:latin typeface="Syne"/>
              </a:rPr>
              <a:t>Los agentes se copian automáticamente a cada proyecto al actualizarse.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194560"/>
            <a:ext cx="365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359152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9E0B"/>
                </a:solidFill>
                <a:latin typeface="Syne"/>
              </a:rPr>
              <a:t>3  Genera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9D9DB5"/>
                </a:solidFill>
                <a:latin typeface="Syne"/>
              </a:rPr>
              <a:t>System prompts profesionales con IA en segundos, sin escribir desde cero.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A5A75"/>
                </a:solidFill>
                <a:latin typeface="JetBrains Mono"/>
              </a:rPr>
              <a:t>Global  →  Sección  →  Tecnología  →  Proyecto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C6AF7"/>
                </a:solidFill>
                <a:latin typeface="Syne"/>
              </a:rPr>
              <a:t>¿QUÉ ES UN AGENTE?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5"/>
                </a:solidFill>
                <a:latin typeface="Syne"/>
              </a:rPr>
              <a:t>Instrucciones que guían a la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D9DB5"/>
                </a:solidFill>
                <a:latin typeface="Syne"/>
              </a:rPr>
              <a:t>Un agente es un archivo con instrucciones que le dicen a Claude (o a Copilot) cómo debe comportarse cuando trabaja en tu proyecto. Define su rol, sus herramientas y sus reglas.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097280"/>
            <a:ext cx="5029200" cy="475488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1097280"/>
            <a:ext cx="54864" cy="475488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280160"/>
            <a:ext cx="44805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75"/>
                </a:solidFill>
                <a:latin typeface="JetBrains Mono"/>
              </a:rPr>
              <a:t>---</a:t>
            </a:r>
          </a:p>
          <a:p>
            <a:r>
              <a:rPr sz="1100">
                <a:solidFill>
                  <a:srgbClr val="7C6AF7"/>
                </a:solidFill>
                <a:latin typeface="JetBrains Mono"/>
              </a:rPr>
              <a:t>name: code-reviewer</a:t>
            </a:r>
          </a:p>
          <a:p>
            <a:r>
              <a:rPr sz="1100">
                <a:solidFill>
                  <a:srgbClr val="7C6AF7"/>
                </a:solidFill>
                <a:latin typeface="JetBrains Mono"/>
              </a:rPr>
              <a:t>description: Revisor de código senior</a:t>
            </a:r>
          </a:p>
          <a:p>
            <a:r>
              <a:rPr sz="1100">
                <a:solidFill>
                  <a:srgbClr val="7C6AF7"/>
                </a:solidFill>
                <a:latin typeface="JetBrains Mono"/>
              </a:rPr>
              <a:t>model: claude-sonnet-4-20250514</a:t>
            </a:r>
          </a:p>
          <a:p>
            <a:r>
              <a:rPr sz="1100">
                <a:solidFill>
                  <a:srgbClr val="7C6AF7"/>
                </a:solidFill>
                <a:latin typeface="JetBrains Mono"/>
              </a:rPr>
              <a:t>tools:</a:t>
            </a:r>
          </a:p>
          <a:p>
            <a:r>
              <a:rPr sz="1100">
                <a:solidFill>
                  <a:srgbClr val="3ECF8E"/>
                </a:solidFill>
                <a:latin typeface="JetBrains Mono"/>
              </a:rPr>
              <a:t>  - Read</a:t>
            </a:r>
          </a:p>
          <a:p>
            <a:r>
              <a:rPr sz="1100">
                <a:solidFill>
                  <a:srgbClr val="3ECF8E"/>
                </a:solidFill>
                <a:latin typeface="JetBrains Mono"/>
              </a:rPr>
              <a:t>  - Bash</a:t>
            </a:r>
          </a:p>
          <a:p>
            <a:r>
              <a:rPr sz="1100">
                <a:solidFill>
                  <a:srgbClr val="3ECF8E"/>
                </a:solidFill>
                <a:latin typeface="JetBrains Mono"/>
              </a:rPr>
              <a:t>  - Grep</a:t>
            </a:r>
          </a:p>
          <a:p>
            <a:r>
              <a:rPr sz="1100">
                <a:solidFill>
                  <a:srgbClr val="5A5A75"/>
                </a:solidFill>
                <a:latin typeface="JetBrains Mono"/>
              </a:rPr>
              <a:t>---</a:t>
            </a:r>
          </a:p>
          <a:p>
            <a:r>
              <a:rPr sz="1100">
                <a:solidFill>
                  <a:srgbClr val="9D9DB5"/>
                </a:solidFill>
                <a:latin typeface="JetBrains Mono"/>
              </a:rPr>
              <a:t> </a:t>
            </a:r>
          </a:p>
          <a:p>
            <a:r>
              <a:rPr sz="1100">
                <a:solidFill>
                  <a:srgbClr val="9D9DB5"/>
                </a:solidFill>
                <a:latin typeface="JetBrains Mono"/>
              </a:rPr>
              <a:t>Analiza el código buscando bugs,</a:t>
            </a:r>
          </a:p>
          <a:p>
            <a:r>
              <a:rPr sz="1100">
                <a:solidFill>
                  <a:srgbClr val="9D9DB5"/>
                </a:solidFill>
                <a:latin typeface="JetBrains Mono"/>
              </a:rPr>
              <a:t>vulnerabilidades y oportunidades</a:t>
            </a:r>
          </a:p>
          <a:p>
            <a:r>
              <a:rPr sz="1100">
                <a:solidFill>
                  <a:srgbClr val="9D9DB5"/>
                </a:solidFill>
                <a:latin typeface="JetBrains Mono"/>
              </a:rPr>
              <a:t>de mejora. Sé directo y específico.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6AF7"/>
                </a:solidFill>
                <a:latin typeface="Syne"/>
              </a:rPr>
              <a:t>Rol  </a:t>
            </a:r>
            <a:r>
              <a:rPr sz="1300">
                <a:solidFill>
                  <a:srgbClr val="9D9DB5"/>
                </a:solidFill>
                <a:latin typeface="Syne"/>
              </a:rPr>
              <a:t>Revisor de código senior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6AF7"/>
                </a:solidFill>
                <a:latin typeface="Syne"/>
              </a:rPr>
              <a:t>Herramientas  </a:t>
            </a:r>
            <a:r>
              <a:rPr sz="1300">
                <a:solidFill>
                  <a:srgbClr val="9D9DB5"/>
                </a:solidFill>
                <a:latin typeface="Syne"/>
              </a:rPr>
              <a:t>Read, Bash, Grep, Write…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6AF7"/>
                </a:solidFill>
                <a:latin typeface="Syne"/>
              </a:rPr>
              <a:t>Modelo  </a:t>
            </a:r>
            <a:r>
              <a:rPr sz="1300">
                <a:solidFill>
                  <a:srgbClr val="9D9DB5"/>
                </a:solidFill>
                <a:latin typeface="Syne"/>
              </a:rPr>
              <a:t>haiku  /  sonnet  /  opus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C6AF7"/>
                </a:solidFill>
                <a:latin typeface="Syne"/>
              </a:rPr>
              <a:t>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601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0F5"/>
                </a:solidFill>
                <a:latin typeface="Syne"/>
              </a:rPr>
              <a:t>Todo lo que necesitas, en una sola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2651760" cy="155448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5"/>
                </a:solidFill>
                <a:latin typeface="Syne"/>
              </a:rPr>
              <a:t>🗂  Gestión de proyectos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9D9DB5"/>
                </a:solidFill>
                <a:latin typeface="Syne"/>
              </a:rPr>
              <a:t>Organiza por categoría y tecnología. Abre en VS Code con un clic.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2152" y="1600200"/>
            <a:ext cx="2651760" cy="155448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5"/>
                </a:solidFill>
                <a:latin typeface="Syne"/>
              </a:rPr>
              <a:t>🤖  Editor de agentes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9D9DB5"/>
                </a:solidFill>
                <a:latin typeface="Syne"/>
              </a:rPr>
              <a:t>Crea y edita agentes con asistencia de IA integrada.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8504" y="1600200"/>
            <a:ext cx="2651760" cy="1554480"/>
          </a:xfrm>
          <a:prstGeom prst="rect">
            <a:avLst/>
          </a:prstGeom>
          <a:solidFill>
            <a:srgbClr val="17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8504" y="1600200"/>
            <a:ext cx="265176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C6AF7"/>
                </a:solidFill>
                <a:latin typeface="Syne"/>
              </a:rPr>
              <a:t>✨  Generación con IA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9D9DB5"/>
                </a:solidFill>
                <a:latin typeface="Syne"/>
              </a:rPr>
              <a:t>Describe lo que necesitas y la IA escribe el prompt por ti.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34856" y="1600200"/>
            <a:ext cx="2651760" cy="1554480"/>
          </a:xfrm>
          <a:prstGeom prst="rect">
            <a:avLst/>
          </a:prstGeom>
          <a:solidFill>
            <a:srgbClr val="17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34856" y="1600200"/>
            <a:ext cx="265176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17736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C6AF7"/>
                </a:solidFill>
                <a:latin typeface="Syne"/>
              </a:rPr>
              <a:t>⚡  Ejecución directa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9D9DB5"/>
                </a:solidFill>
                <a:latin typeface="Syne"/>
              </a:rPr>
              <a:t>Lanza un agente sobre tu proyecto con un clic. Aplica cambios y devuelve un informe.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355848"/>
            <a:ext cx="2651760" cy="155448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93008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5"/>
                </a:solidFill>
                <a:latin typeface="Syne"/>
              </a:rPr>
              <a:t>🔄  Sync automático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9D9DB5"/>
                </a:solidFill>
                <a:latin typeface="Syne"/>
              </a:rPr>
              <a:t>Los agentes se sincronizan a todos los proyectos que los usan.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2152" y="3355848"/>
            <a:ext cx="2651760" cy="155448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3493008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5"/>
                </a:solidFill>
                <a:latin typeface="Syne"/>
              </a:rPr>
              <a:t>💬  Chat integrado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9D9DB5"/>
                </a:solidFill>
                <a:latin typeface="Syne"/>
              </a:rPr>
              <a:t>Consulta a la IA con indicador de contexto y detección de proveedor.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18504" y="3355848"/>
            <a:ext cx="2651760" cy="1554480"/>
          </a:xfrm>
          <a:prstGeom prst="rect">
            <a:avLst/>
          </a:prstGeom>
          <a:solidFill>
            <a:srgbClr val="14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3493008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5"/>
                </a:solidFill>
                <a:latin typeface="Syne"/>
              </a:rPr>
              <a:t>📦  Directorio de agentes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9D9DB5"/>
                </a:solidFill>
                <a:latin typeface="Syne"/>
              </a:rPr>
              <a:t>Catálogo curado de agentes profesionales, siempre actualizados.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C6AF7"/>
                </a:solidFill>
                <a:latin typeface="Syne"/>
              </a:rPr>
              <a:t>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0F5"/>
                </a:solidFill>
                <a:latin typeface="Syne"/>
              </a:rPr>
              <a:t>De la idea al resultado en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C6AF7"/>
                </a:solidFill>
                <a:latin typeface="JetBrains Mono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31720"/>
            <a:ext cx="32004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487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0F0F5"/>
                </a:solidFill>
                <a:latin typeface="Syne"/>
              </a:rPr>
              <a:t>Describes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089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D9DB5"/>
                </a:solidFill>
                <a:latin typeface="Syne"/>
              </a:rPr>
              <a:t>Qué necesitas en lenguaje 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2560320"/>
            <a:ext cx="9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75"/>
                </a:solidFill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19202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C6AF7"/>
                </a:solidFill>
                <a:latin typeface="JetBrains Mono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41448" y="2331720"/>
            <a:ext cx="32004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2487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0F0F5"/>
                </a:solidFill>
                <a:latin typeface="Syne"/>
              </a:rPr>
              <a:t>IA genera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31089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D9DB5"/>
                </a:solidFill>
                <a:latin typeface="Syne"/>
              </a:rPr>
              <a:t>System prompt completo y optimizado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2560320"/>
            <a:ext cx="9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75"/>
                </a:solidFill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19202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C6AF7"/>
                </a:solidFill>
                <a:latin typeface="JetBrains Mono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2331720"/>
            <a:ext cx="32004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87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0F0F5"/>
                </a:solidFill>
                <a:latin typeface="Syne"/>
              </a:rPr>
              <a:t>Asignas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31089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D9DB5"/>
                </a:solidFill>
                <a:latin typeface="Syne"/>
              </a:rPr>
              <a:t>Al nivel adecuado: global, categoría o proyecto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560320"/>
            <a:ext cx="9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75"/>
                </a:solidFill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9202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C6AF7"/>
                </a:solidFill>
                <a:latin typeface="JetBrains Mono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18504" y="2331720"/>
            <a:ext cx="32004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2487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0F0F5"/>
                </a:solidFill>
                <a:latin typeface="Syne"/>
              </a:rPr>
              <a:t>Sincronizas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31089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D9DB5"/>
                </a:solidFill>
                <a:latin typeface="Syne"/>
              </a:rPr>
              <a:t>La app copia el agente a todos los proyectos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560320"/>
            <a:ext cx="9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75"/>
                </a:solidFill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19202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C6AF7"/>
                </a:solidFill>
                <a:latin typeface="JetBrains Mono"/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7032" y="2331720"/>
            <a:ext cx="32004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2487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0F0F5"/>
                </a:solidFill>
                <a:latin typeface="Syne"/>
              </a:rPr>
              <a:t>Usas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31089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D9DB5"/>
                </a:solidFill>
                <a:latin typeface="Syne"/>
              </a:rPr>
              <a:t>En Claude Code o GitHub Copilot desde tu editor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560320"/>
            <a:ext cx="9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75"/>
                </a:solidFill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19202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C6AF7"/>
                </a:solidFill>
                <a:latin typeface="JetBrains Mono"/>
              </a:rPr>
              <a:t>06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60" y="2331720"/>
            <a:ext cx="32004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5560" y="2487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0F0F5"/>
                </a:solidFill>
                <a:latin typeface="Syne"/>
              </a:rPr>
              <a:t>Ejecutas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1089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D9DB5"/>
                </a:solidFill>
                <a:latin typeface="Syne"/>
              </a:rPr>
              <a:t>El agente actúa sobre tu proyecto y devuelve un informe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C6AF7"/>
                </a:solidFill>
                <a:latin typeface="Syne"/>
              </a:rPr>
              <a:t>REPOSITORIO COLABORATIVO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0F5"/>
                </a:solidFill>
                <a:latin typeface="Syne"/>
              </a:rPr>
              <a:t>Un catálogo compartido, siempre actualizado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389120" cy="36576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45720" cy="36576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0233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ECF8E"/>
                </a:solidFill>
                <a:latin typeface="JetBrains Mono"/>
              </a:rPr>
              <a:t>Repositorio central (GitHub)</a:t>
            </a:r>
          </a:p>
          <a:p>
            <a:r>
              <a:rPr sz="1100">
                <a:solidFill>
                  <a:srgbClr val="9D9DB5"/>
                </a:solidFill>
                <a:latin typeface="JetBrains Mono"/>
              </a:rPr>
              <a:t>           │</a:t>
            </a:r>
          </a:p>
          <a:p>
            <a:r>
              <a:rPr sz="1100">
                <a:solidFill>
                  <a:srgbClr val="9D9DB5"/>
                </a:solidFill>
                <a:latin typeface="JetBrains Mono"/>
              </a:rPr>
              <a:t>           │  sync automático al arrancar</a:t>
            </a:r>
          </a:p>
          <a:p>
            <a:r>
              <a:rPr sz="1100">
                <a:solidFill>
                  <a:srgbClr val="9D9DB5"/>
                </a:solidFill>
                <a:latin typeface="JetBrains Mono"/>
              </a:rPr>
              <a:t>           ▼</a:t>
            </a:r>
          </a:p>
          <a:p>
            <a:r>
              <a:rPr sz="1100">
                <a:solidFill>
                  <a:srgbClr val="9D9DB5"/>
                </a:solidFill>
                <a:latin typeface="JetBrains Mono"/>
              </a:rPr>
              <a:t>    Agent Hub  (cada miembro del equipo)</a:t>
            </a:r>
          </a:p>
          <a:p>
            <a:r>
              <a:rPr sz="1100">
                <a:solidFill>
                  <a:srgbClr val="9D9DB5"/>
                </a:solidFill>
                <a:latin typeface="JetBrains Mono"/>
              </a:rPr>
              <a:t>           │</a:t>
            </a:r>
          </a:p>
          <a:p>
            <a:r>
              <a:rPr sz="1100">
                <a:solidFill>
                  <a:srgbClr val="9D9DB5"/>
                </a:solidFill>
                <a:latin typeface="JetBrains Mono"/>
              </a:rPr>
              <a:t>           │  sync a cada proyecto</a:t>
            </a:r>
          </a:p>
          <a:p>
            <a:r>
              <a:rPr sz="1100">
                <a:solidFill>
                  <a:srgbClr val="9D9DB5"/>
                </a:solidFill>
                <a:latin typeface="JetBrains Mono"/>
              </a:rPr>
              <a:t>           ▼</a:t>
            </a:r>
          </a:p>
          <a:p>
            <a:r>
              <a:rPr sz="1100">
                <a:solidFill>
                  <a:srgbClr val="3ECF8E"/>
                </a:solidFill>
                <a:latin typeface="JetBrains Mono"/>
              </a:rPr>
              <a:t>  .claude/agents/  (en tu proyecto)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82880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ECF8E"/>
                </a:solidFill>
                <a:latin typeface="Syne"/>
              </a:rPr>
              <a:t>✓  Un solo punto de verdad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D9DB5"/>
                </a:solidFill>
                <a:latin typeface="Syne"/>
              </a:rPr>
              <a:t>    El equipo siempre trabaja con la misma versión de cada agente.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83464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ECF8E"/>
                </a:solidFill>
                <a:latin typeface="Syne"/>
              </a:rPr>
              <a:t>✓  Actualizaciones automáticas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D9DB5"/>
                </a:solidFill>
                <a:latin typeface="Syne"/>
              </a:rPr>
              <a:t>    Cuando alguien mejora un agente, todos lo reciben en el siguiente arranque.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84048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ECF8E"/>
                </a:solidFill>
                <a:latin typeface="Syne"/>
              </a:rPr>
              <a:t>✓  Control de conflictos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D9DB5"/>
                </a:solidFill>
                <a:latin typeface="Syne"/>
              </a:rPr>
              <a:t>    La app detecta modificaciones locales y permite elegir qué versión conservar.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84632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ECF8E"/>
                </a:solidFill>
                <a:latin typeface="Syne"/>
              </a:rPr>
              <a:t>✓  Archivos .md en GitHub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9D9DB5"/>
                </a:solidFill>
                <a:latin typeface="Syne"/>
              </a:rPr>
              <a:t>    Versionados, auditables, sin vendor lock-in. El equipo es dueño del conocimiento.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C6AF7"/>
                </a:solidFill>
                <a:latin typeface="Syne"/>
              </a:rPr>
              <a:t>COMPATIBILIDAD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0F0F5"/>
                </a:solidFill>
                <a:latin typeface="Syne"/>
              </a:rPr>
              <a:t>Funciona con tu stack actual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36576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C6AF7"/>
                </a:solidFill>
                <a:latin typeface="Syne"/>
              </a:rPr>
              <a:t>Providers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329184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9D9DB5"/>
                </a:solidFill>
                <a:latin typeface="Syne"/>
              </a:rPr>
              <a:t>—  Claude CLI — tu suscripción de Claude.ai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D9DB5"/>
                </a:solidFill>
                <a:latin typeface="Syne"/>
              </a:rPr>
              <a:t>—  Anthropic API — acceso directo a los modelos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D9DB5"/>
                </a:solidFill>
                <a:latin typeface="Syne"/>
              </a:rPr>
              <a:t>—  GitHub Copilot — compatible con tu cuenta GitHub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11680"/>
            <a:ext cx="36576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488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C6AF7"/>
                </a:solidFill>
                <a:latin typeface="Syne"/>
              </a:rPr>
              <a:t>Proyectos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697480"/>
            <a:ext cx="329184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9D9DB5"/>
                </a:solidFill>
                <a:latin typeface="Syne"/>
              </a:rPr>
              <a:t>—  Cualquier lenguaje o framework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D9DB5"/>
                </a:solidFill>
                <a:latin typeface="Syne"/>
              </a:rPr>
              <a:t>—  Claude Code  (.claude/agents/)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D9DB5"/>
                </a:solidFill>
                <a:latin typeface="Syne"/>
              </a:rPr>
              <a:t>—  GitHub Copilot  (.github/agents/)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011680"/>
            <a:ext cx="36576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488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C6AF7"/>
                </a:solidFill>
                <a:latin typeface="Syne"/>
              </a:rPr>
              <a:t>Distribución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97480"/>
            <a:ext cx="329184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9D9DB5"/>
                </a:solidFill>
                <a:latin typeface="Syne"/>
              </a:rPr>
              <a:t>—  App de escritorio Windows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D9DB5"/>
                </a:solidFill>
                <a:latin typeface="Syne"/>
              </a:rPr>
              <a:t>—  Portable .exe — sin instalación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D9DB5"/>
                </a:solidFill>
                <a:latin typeface="Syne"/>
              </a:rPr>
              <a:t>—  Actualizaciones automáticas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C6AF7"/>
                </a:solidFill>
                <a:latin typeface="Syne"/>
              </a:rPr>
              <a:t>ESTADO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6400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0F0F5"/>
                </a:solidFill>
                <a:latin typeface="Syne"/>
              </a:rPr>
              <a:t>v1.8.0 — En uso activo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ECF8E"/>
                </a:solidFill>
                <a:latin typeface="Syne"/>
              </a:rPr>
              <a:t>✓  Gestión completa de agentes en 4 niveles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ECF8E"/>
                </a:solidFill>
                <a:latin typeface="Syne"/>
              </a:rPr>
              <a:t>✓  Sync automático a proyectos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ECF8E"/>
                </a:solidFill>
                <a:latin typeface="Syne"/>
              </a:rPr>
              <a:t>✓  Directorio de agentes externo con versionado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ECF8E"/>
                </a:solidFill>
                <a:latin typeface="Syne"/>
              </a:rPr>
              <a:t>✓  Chat con historial por proyecto y @mention de agentes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ECF8E"/>
                </a:solidFill>
                <a:latin typeface="Syne"/>
              </a:rPr>
              <a:t>✓  Generación y optimización de prompts con IA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ECF8E"/>
                </a:solidFill>
                <a:latin typeface="Syne"/>
              </a:rPr>
              <a:t>✓  Generación de CLAUDE.md / copilot-instructions con IA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ECF8E"/>
                </a:solidFill>
                <a:latin typeface="Syne"/>
              </a:rPr>
              <a:t>✓  Dashboard con métricas y seguimiento de uso de tokens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ECF8E"/>
                </a:solidFill>
                <a:latin typeface="Syne"/>
              </a:rPr>
              <a:t>✓  Ejecución directa de agentes sobre proyectos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ECF8E"/>
                </a:solidFill>
                <a:latin typeface="Syne"/>
              </a:rPr>
              <a:t>✓  Validación de contexto antes de ejecutar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ECF8E"/>
                </a:solidFill>
                <a:latin typeface="Syne"/>
              </a:rPr>
              <a:t>✓  Indicador de estado de contexto en el chat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C6AF7"/>
                </a:solidFill>
                <a:latin typeface="Syne"/>
              </a:rPr>
              <a:t>LA VENTAJA COMPETITIVA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0F0F5"/>
                </a:solidFill>
                <a:latin typeface="Syne"/>
              </a:rPr>
              <a:t>Por qué Agent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73152" cy="13716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1031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ECF8E"/>
                </a:solidFill>
                <a:latin typeface="Syne"/>
              </a:rPr>
              <a:t>Conocimiento compartido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9D9DB5"/>
                </a:solidFill>
                <a:latin typeface="Syne"/>
              </a:rPr>
              <a:t>El repositorio central garantiza que todo el equipo trabaja con los mismos agentes, en la misma versión. El know-how de usar bien la IA deja de vivir en la cabeza de una persona y pasa a ser un activo del equipo.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2103120"/>
            <a:ext cx="73152" cy="13716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7448" y="21031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7C6AF7"/>
                </a:solidFill>
                <a:latin typeface="Syne"/>
              </a:rPr>
              <a:t>Eficiencia multiplicada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9D9DB5"/>
                </a:solidFill>
                <a:latin typeface="Syne"/>
              </a:rPr>
              <a:t>Un agente mejorado en el repositorio se propaga automáticamente a todos. Un cambio, efecto global sobre todos los proyectos y todos los miembros del equipo.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103120"/>
            <a:ext cx="73152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1031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59E0B"/>
                </a:solidFill>
                <a:latin typeface="Syne"/>
              </a:rPr>
              <a:t>Control total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9D9DB5"/>
                </a:solidFill>
                <a:latin typeface="Syne"/>
              </a:rPr>
              <a:t>Los agentes son archivos .md en GitHub. Versionados, auditables, sin vendor lock-in. El equipo es dueño de su conocimiento y puede auditarlo o mejorarlo en cualquier momento.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1A1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64008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0F0F5"/>
                </a:solidFill>
                <a:latin typeface="Syne"/>
              </a:rPr>
              <a:t>Agent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457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i="1">
                <a:solidFill>
                  <a:srgbClr val="9D9DB5"/>
                </a:solidFill>
                <a:latin typeface="Syne"/>
              </a:rPr>
              <a:t>"No se trata de usar más IA. Se trata de usarla mejor."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76169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7C6AF7"/>
                </a:solidFill>
                <a:latin typeface="Syne"/>
              </a:rPr>
              <a:t>→  Descarga la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86200"/>
            <a:ext cx="76169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F0F0F5"/>
                </a:solidFill>
                <a:latin typeface="Syne"/>
              </a:rPr>
              <a:t>→  Prueba el directorio de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572000"/>
            <a:ext cx="76169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F0F0F5"/>
                </a:solidFill>
                <a:latin typeface="Syne"/>
              </a:rPr>
              <a:t>→  Empieza a trabajar con IA de forma estructurada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4648" y="612648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A5A75"/>
                </a:solidFill>
                <a:latin typeface="JetBrains Mono"/>
              </a:rPr>
              <a:t>v1.8.0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